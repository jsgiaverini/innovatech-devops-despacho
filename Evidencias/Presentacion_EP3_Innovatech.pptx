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6" r:id="rId10"/>
    <p:sldId id="263" r:id="rId11"/>
    <p:sldId id="264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71033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9144000" y="0"/>
                </a:moveTo>
                <a:lnTo>
                  <a:pt x="0" y="0"/>
                </a:lnTo>
                <a:lnTo>
                  <a:pt x="0" y="658367"/>
                </a:lnTo>
                <a:lnTo>
                  <a:pt x="9144000" y="658367"/>
                </a:lnTo>
                <a:lnTo>
                  <a:pt x="9144000" y="0"/>
                </a:lnTo>
                <a:close/>
              </a:path>
            </a:pathLst>
          </a:custGeom>
          <a:solidFill>
            <a:srgbClr val="1A2D4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266674" cy="7193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20827"/>
            <a:ext cx="394779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309" y="852042"/>
            <a:ext cx="8501380" cy="1811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4944490"/>
            <a:ext cx="3623945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E1E8E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GPY1101</a:t>
            </a:r>
            <a:r>
              <a:rPr spc="-5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Evaluación</a:t>
            </a:r>
            <a:r>
              <a:rPr spc="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Proyectos</a:t>
            </a:r>
            <a:r>
              <a:rPr spc="-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SCAT-GI</a:t>
            </a:r>
            <a:r>
              <a:rPr spc="-50" dirty="0"/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spc="-10" dirty="0"/>
              <a:t>Municipalidad</a:t>
            </a:r>
            <a:r>
              <a:rPr spc="30" dirty="0"/>
              <a:t> </a:t>
            </a:r>
            <a:r>
              <a:rPr dirty="0"/>
              <a:t>Valle</a:t>
            </a:r>
            <a:r>
              <a:rPr spc="-5" dirty="0"/>
              <a:t> </a:t>
            </a:r>
            <a:r>
              <a:rPr dirty="0"/>
              <a:t>del </a:t>
            </a:r>
            <a:r>
              <a:rPr spc="-25" dirty="0"/>
              <a:t>Sol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2D44"/>
          </a:solidFill>
        </p:spPr>
        <p:txBody>
          <a:bodyPr wrap="square" lIns="0" tIns="0" rIns="0" bIns="0" rtlCol="0"/>
          <a:lstStyle/>
          <a:p>
            <a:endParaRPr lang="es-CL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181610"/>
            <a:chOff x="0" y="0"/>
            <a:chExt cx="9144000" cy="181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814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5"/>
              <a:ext cx="9144000" cy="120014"/>
            </a:xfrm>
            <a:custGeom>
              <a:avLst/>
              <a:gdLst/>
              <a:ahLst/>
              <a:cxnLst/>
              <a:rect l="l" t="t" r="r" b="b"/>
              <a:pathLst>
                <a:path w="9144000" h="120014">
                  <a:moveTo>
                    <a:pt x="9144000" y="0"/>
                  </a:moveTo>
                  <a:lnTo>
                    <a:pt x="0" y="0"/>
                  </a:lnTo>
                  <a:lnTo>
                    <a:pt x="0" y="119999"/>
                  </a:lnTo>
                  <a:lnTo>
                    <a:pt x="9144000" y="1199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>
              <a:endParaRPr lang="es-CL" noProof="0" dirty="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5003290"/>
            <a:ext cx="9144000" cy="140335"/>
            <a:chOff x="0" y="5003290"/>
            <a:chExt cx="9144000" cy="1403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03290"/>
              <a:ext cx="9144000" cy="1402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5023499"/>
              <a:ext cx="9144000" cy="120014"/>
            </a:xfrm>
            <a:custGeom>
              <a:avLst/>
              <a:gdLst/>
              <a:ahLst/>
              <a:cxnLst/>
              <a:rect l="l" t="t" r="r" b="b"/>
              <a:pathLst>
                <a:path w="9144000" h="120014">
                  <a:moveTo>
                    <a:pt x="9144000" y="0"/>
                  </a:moveTo>
                  <a:lnTo>
                    <a:pt x="0" y="0"/>
                  </a:lnTo>
                  <a:lnTo>
                    <a:pt x="0" y="119999"/>
                  </a:lnTo>
                  <a:lnTo>
                    <a:pt x="9144000" y="1199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7B7A"/>
            </a:solidFill>
          </p:spPr>
          <p:txBody>
            <a:bodyPr wrap="square" lIns="0" tIns="0" rIns="0" bIns="0" rtlCol="0"/>
            <a:lstStyle/>
            <a:p>
              <a:endParaRPr lang="es-CL" noProof="0"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78991" y="324103"/>
            <a:ext cx="29819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L" sz="1400" b="0" noProof="0" dirty="0">
                <a:solidFill>
                  <a:srgbClr val="FFFFFF"/>
                </a:solidFill>
                <a:latin typeface="Calibri Light"/>
              </a:rPr>
              <a:t>Evaluación Parcial N°3</a:t>
            </a:r>
            <a:endParaRPr lang="es-CL" sz="1200" noProof="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3663" y="983677"/>
            <a:ext cx="5559425" cy="116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95"/>
              </a:spcBef>
            </a:pPr>
            <a:r>
              <a:rPr lang="es-CL" sz="3600" b="1" noProof="0" dirty="0">
                <a:solidFill>
                  <a:srgbClr val="0D7B7A"/>
                </a:solidFill>
                <a:latin typeface="Calibri"/>
              </a:rPr>
              <a:t>INNOVATECH CHILE</a:t>
            </a:r>
            <a:endParaRPr lang="es-CL" sz="2800" noProof="0" dirty="0">
              <a:latin typeface="Calibri"/>
              <a:cs typeface="Calibri"/>
            </a:endParaRPr>
          </a:p>
          <a:p>
            <a:pPr marL="909319">
              <a:lnSpc>
                <a:spcPct val="100000"/>
              </a:lnSpc>
              <a:spcBef>
                <a:spcPts val="1600"/>
              </a:spcBef>
            </a:pPr>
            <a:endParaRPr lang="es-CL" sz="3600" noProof="0" dirty="0">
              <a:latin typeface="Calibri"/>
              <a:cs typeface="Calibri"/>
            </a:endParaRPr>
          </a:p>
          <a:p>
            <a:r>
              <a:rPr lang="es-CL" sz="1800" b="0" noProof="0" dirty="0">
                <a:solidFill>
                  <a:srgbClr val="FFFFFF"/>
                </a:solidFill>
                <a:latin typeface="Calibri Light"/>
              </a:rPr>
              <a:t>Sistema de Gestión de Despachos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514600" y="3648917"/>
            <a:ext cx="316103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L" sz="1300" noProof="0" dirty="0">
                <a:solidFill>
                  <a:srgbClr val="CCCCCC"/>
                </a:solidFill>
                <a:latin typeface="Calibri Light"/>
              </a:rPr>
              <a:t>Introducción a Herramientas DevOps (ISY1101)</a:t>
            </a:r>
            <a:endParaRPr lang="es-CL" sz="1300" noProof="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0000" y="4637296"/>
            <a:ext cx="33343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L" sz="1100" noProof="0" dirty="0">
                <a:solidFill>
                  <a:srgbClr val="CCCCCC"/>
                </a:solidFill>
                <a:latin typeface="Calibri Light"/>
              </a:rPr>
              <a:t>Julio 2026</a:t>
            </a:r>
            <a:endParaRPr lang="es-CL" sz="1100" noProof="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886968"/>
            <a:ext cx="813816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Infraestructura en AWS ECS </a:t>
            </a:r>
            <a:r>
              <a:rPr lang="es-CL" sz="1800" b="1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 con ALB</a:t>
            </a:r>
          </a:p>
          <a:p>
            <a:pPr algn="l">
              <a:spcAft>
                <a:spcPts val="420"/>
              </a:spcAft>
            </a:pPr>
            <a:endParaRPr lang="es-CL" sz="1800" b="1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Componentes del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Stack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Cluster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ECS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innovatech-cluster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(us-east-1)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Application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Load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Balancer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path-based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routing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4 servicios: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mysql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back-ventas, back-despachos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React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+ Vite +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Nginx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(puerto 8080)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Backends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Spring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Boot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3 + Java 17 (puertos 8080/8081)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Base de Datos: MySQL 8.4 (puerto 3306, subred privada)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Path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routing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/ →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| /api/v1/ventas* →</a:t>
            </a:r>
          </a:p>
          <a:p>
            <a:pPr algn="l">
              <a:spcAft>
                <a:spcPts val="420"/>
              </a:spcAft>
            </a:pPr>
            <a:r>
              <a:rPr lang="es-CL" sz="1400" dirty="0">
                <a:solidFill>
                  <a:srgbClr val="FFFFFF"/>
                </a:solidFill>
                <a:latin typeface="Calibri"/>
              </a:rPr>
              <a:t>                               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→ ventas | /api/v1/despachos* → despachos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1A9E636-6C52-7875-D455-C9FD1EC29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800" y="827376"/>
            <a:ext cx="2100507" cy="39779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 err="1">
                <a:solidFill>
                  <a:srgbClr val="FFFFFF"/>
                </a:solidFill>
                <a:latin typeface="Calibri"/>
              </a:rPr>
              <a:t>Cluster</a:t>
            </a:r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s-CL" sz="2400" b="1" noProof="0" dirty="0" err="1">
                <a:solidFill>
                  <a:srgbClr val="FFFFFF"/>
                </a:solidFill>
                <a:latin typeface="Calibri"/>
              </a:rPr>
              <a:t>Networking</a:t>
            </a:r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 &amp; Seguridad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886968"/>
            <a:ext cx="81381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Cluster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ECS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1.4.0 - 4 servicios activos, 4 tareas RUNNING</a:t>
            </a: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Capacity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Provider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: FARGATE (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serverless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, sin nodos EC2)</a:t>
            </a: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Redes: VPC con subredes públicas y privadas (multi-AZ)</a:t>
            </a: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Security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Groups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: SG_ALB (80), SG_FRONTEND (8080), SG_BACKEND (8080/8081), SG_MYSQL (3306)</a:t>
            </a: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Roles IAM: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LabRole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(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Task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Execution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Role con permisos ECR +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CloudWatch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Imágenes en ECR privado - contenedores con usuario no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root</a:t>
            </a:r>
            <a:endParaRPr lang="es-CL" sz="130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Justificación: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elimina gestión de servidores y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auto-recupera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tareas fallidas</a:t>
            </a: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Alta disponibilidad: tareas distribuidas en múltiples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AZs</a:t>
            </a:r>
            <a:endParaRPr lang="es-CL" sz="130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▸ Tolerancia a fallos: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health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300" noProof="0" dirty="0" err="1">
                <a:solidFill>
                  <a:srgbClr val="FFFFFF"/>
                </a:solidFill>
                <a:latin typeface="Calibri"/>
              </a:rPr>
              <a:t>checks</a:t>
            </a:r>
            <a:r>
              <a:rPr lang="es-CL" sz="1300" noProof="0" dirty="0">
                <a:solidFill>
                  <a:srgbClr val="FFFFFF"/>
                </a:solidFill>
                <a:latin typeface="Calibri"/>
              </a:rPr>
              <a:t> + reinicio automático de tareas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Configuración y Justificación del </a:t>
            </a:r>
            <a:r>
              <a:rPr lang="es-CL" sz="2400" b="1" noProof="0" dirty="0" err="1">
                <a:solidFill>
                  <a:srgbClr val="FFFFFF"/>
                </a:solidFill>
                <a:latin typeface="Calibri"/>
              </a:rPr>
              <a:t>Autoscaling</a:t>
            </a:r>
            <a:endParaRPr lang="es-CL" sz="24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749808"/>
            <a:ext cx="6632448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Mecanismo: Target Tracking (CPU / </a:t>
            </a:r>
            <a:r>
              <a:rPr lang="es-CL" sz="1800" b="1" noProof="0" dirty="0" err="1">
                <a:solidFill>
                  <a:srgbClr val="FFFFFF"/>
                </a:solidFill>
                <a:latin typeface="Calibri"/>
              </a:rPr>
              <a:t>Memory</a:t>
            </a: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endParaRPr lang="es-CL" sz="1800" b="1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Políticas aplicadas en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frontend-service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back-ventas-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service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y back-despachos-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service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Target Tracking CPU al 50% (métrica: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ECSServiceAverageCPUUtilization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Target Tracking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Memory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al 50% (métrica: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ECSServiceAverageMemoryUtilization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Mínimo 1 tarea | Máximo 3 tareas |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Cooldown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60s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Justificación del umbral 50%: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Detecta aumento de carga antes de saturación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Previene OOM en contenedores Java (JVM necesita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headroom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Da tiempo para provisionar nuevas tareas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(~30s)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8F60-B3BA-426B-4AA6-067CFFAF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DAB54A-49C2-4871-4012-A94E8F46DF1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BF1F7-E90A-FFF2-8D66-FA9E921E73FB}"/>
              </a:ext>
            </a:extLst>
          </p:cNvPr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12580-1056-D671-8865-276085ACC175}"/>
              </a:ext>
            </a:extLst>
          </p:cNvPr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B8E1F5-11F8-3351-D727-94737B3D9677}"/>
              </a:ext>
            </a:extLst>
          </p:cNvPr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796A7-4333-AC59-6651-02D19E10CFFB}"/>
              </a:ext>
            </a:extLst>
          </p:cNvPr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Configuración y Justificación del </a:t>
            </a:r>
            <a:r>
              <a:rPr lang="es-CL" sz="2400" b="1" noProof="0" dirty="0" err="1">
                <a:solidFill>
                  <a:srgbClr val="FFFFFF"/>
                </a:solidFill>
                <a:latin typeface="Calibri"/>
              </a:rPr>
              <a:t>Autoscaling</a:t>
            </a:r>
            <a:endParaRPr lang="es-CL" sz="24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6B237F-3325-C882-519D-8AFCFC5FAB80}"/>
              </a:ext>
            </a:extLst>
          </p:cNvPr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8F31E3-0DBC-C481-95E1-CF2212266C1B}"/>
              </a:ext>
            </a:extLst>
          </p:cNvPr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E63A2-1703-BC15-181A-DD6A350BEC01}"/>
              </a:ext>
            </a:extLst>
          </p:cNvPr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660A86-3BC7-3700-9F3A-EAD11262640F}"/>
              </a:ext>
            </a:extLst>
          </p:cNvPr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D3107-B598-94D2-E36C-6E39527D3A94}"/>
              </a:ext>
            </a:extLst>
          </p:cNvPr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4" name="Imagen 1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2B70FD7-4C9A-319A-2F77-F54D499E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50" y="794766"/>
            <a:ext cx="3873750" cy="1924558"/>
          </a:xfrm>
          <a:prstGeom prst="rect">
            <a:avLst/>
          </a:prstGeom>
        </p:spPr>
      </p:pic>
      <p:pic>
        <p:nvPicPr>
          <p:cNvPr id="13" name="Imagen 1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AE61069-04CC-1DD4-24E0-BBE6D83D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80127"/>
            <a:ext cx="4132312" cy="1913925"/>
          </a:xfrm>
          <a:prstGeom prst="rect">
            <a:avLst/>
          </a:prstGeom>
        </p:spPr>
      </p:pic>
      <p:pic>
        <p:nvPicPr>
          <p:cNvPr id="15" name="Imagen 1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BAD3E70-C182-6EE9-1307-5161CF924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725895"/>
            <a:ext cx="4104880" cy="2025476"/>
          </a:xfrm>
          <a:prstGeom prst="rect">
            <a:avLst/>
          </a:prstGeom>
        </p:spPr>
      </p:pic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5CAB1302-9EF1-3496-DD80-D1246150E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88" y="2817669"/>
            <a:ext cx="3952488" cy="192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8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Pipeline CI/CD para Orquestación y Despliegue Continuo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47472" y="718770"/>
            <a:ext cx="813816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Flujo completo con GitHub </a:t>
            </a:r>
            <a:r>
              <a:rPr lang="es-CL" sz="1800" b="1" noProof="0" dirty="0" err="1">
                <a:solidFill>
                  <a:srgbClr val="FFFFFF"/>
                </a:solidFill>
                <a:latin typeface="Calibri"/>
              </a:rPr>
              <a:t>Actions</a:t>
            </a:r>
            <a:endParaRPr lang="es-CL" sz="1800" b="1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endParaRPr lang="es-CL" sz="1800" b="1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3 pipelines independientes (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back-ventas, back-despachos):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1. Configurar credenciales AWS (GitHub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Secrets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2.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Login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en Amazon ECR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3.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Build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tag y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push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de imagen Docker a ECR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4. Desplegar en ECS (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update-service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--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force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-new-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deployment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Integración GitHub + AWS: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Secrets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AWS_ACCESS_KEY_ID, AWS_SECRET_ACCESS_KEY, AWS_SESSION_TOKEN, AWS_REGION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Disparo automático al hacer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push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a la rama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Recuperación: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force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-new-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deployment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+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health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checks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en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Task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Definition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3" name="Imagen 1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8D465E6-A09F-F409-015E-5CFD262D6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151" y="1733550"/>
            <a:ext cx="3790969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Métricas y Análisis del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886968"/>
            <a:ext cx="81381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lang="es-CL" sz="1600" b="1" noProof="0" dirty="0">
                <a:solidFill>
                  <a:srgbClr val="FFFFFF"/>
                </a:solidFill>
                <a:latin typeface="Calibri"/>
              </a:rPr>
              <a:t>Tiempos de ejecución por paso: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Configurar credenciales AWS: ~5 segundos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Login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ECR: ~3 segundos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Build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tag y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push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(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): ~60-90 segundos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Build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tag y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push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(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backend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con Maven): ~40-60 segundos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ECS (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update-service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): ~5 segundos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Tiempo total promedio: 60-120 segundos por servicio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Análisis de cuellos de botella: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Paso más lento: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Build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tag y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push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(dependencias Maven/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npm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Pipelines se ejecutan en paralelo (sin dependencias entre servicios)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rápido: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update-service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solo cambia la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task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definition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Disponibilidad real: ~30-60s adicionales (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provisiona la tarea)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100" b="0" noProof="0" dirty="0">
                <a:solidFill>
                  <a:srgbClr val="FFFFFF"/>
                </a:solidFill>
                <a:latin typeface="Calibri"/>
              </a:rPr>
              <a:t>[ IMAGEN: Pipeline expandido con tiempos de cada paso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Demostración Funcional del Entorno Orquestado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96570" y="767080"/>
            <a:ext cx="81381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Demostración en vivo desde AWS </a:t>
            </a:r>
            <a:r>
              <a:rPr lang="es-CL" sz="1800" b="1" noProof="0" dirty="0" err="1">
                <a:solidFill>
                  <a:srgbClr val="FFFFFF"/>
                </a:solidFill>
                <a:latin typeface="Calibri"/>
              </a:rPr>
              <a:t>Console</a:t>
            </a: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:</a:t>
            </a:r>
          </a:p>
          <a:p>
            <a:pPr algn="l">
              <a:spcAft>
                <a:spcPts val="420"/>
              </a:spcAft>
            </a:pPr>
            <a:endParaRPr lang="es-CL" sz="1800" b="1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①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http://alb-innovatech-1338413519.us-east-1.elb.amazonaws.com/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     → Aplicación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React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+ Vite cargando correctamente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②  API Ventas: GET /api/v1/ventas → HTTP 200 + JSON []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③  API Despachos: GET /api/v1/despachos → HTTP 200 + JSON []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④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CloudWatch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Logs: /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ecs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/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innovatech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/back-ventas y back-despachos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     → Spring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Boot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iniciando, conexión MySQL establecida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⑤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Autoscaling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simular carga de 500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requests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/3 minutos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     → ECS escala horizontalmente si CPU supera 50%</a:t>
            </a: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100" b="0" noProof="0" dirty="0">
                <a:solidFill>
                  <a:srgbClr val="FFFFFF"/>
                </a:solidFill>
                <a:latin typeface="Calibri"/>
              </a:rPr>
              <a:t>[ IMAGEN: </a:t>
            </a:r>
            <a:r>
              <a:rPr lang="es-CL" sz="11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100" b="0" noProof="0" dirty="0">
                <a:solidFill>
                  <a:srgbClr val="FFFFFF"/>
                </a:solidFill>
                <a:latin typeface="Calibri"/>
              </a:rPr>
              <a:t> funcionando + </a:t>
            </a:r>
            <a:r>
              <a:rPr lang="es-CL" sz="1100" b="0" noProof="0" dirty="0" err="1">
                <a:solidFill>
                  <a:srgbClr val="FFFFFF"/>
                </a:solidFill>
                <a:latin typeface="Calibri"/>
              </a:rPr>
              <a:t>APIs</a:t>
            </a:r>
            <a:r>
              <a:rPr lang="es-CL" sz="1100" b="0" noProof="0" dirty="0">
                <a:solidFill>
                  <a:srgbClr val="FFFFFF"/>
                </a:solidFill>
                <a:latin typeface="Calibri"/>
              </a:rPr>
              <a:t> respondiendo + Logs </a:t>
            </a:r>
            <a:r>
              <a:rPr lang="es-CL" sz="1100" b="0" noProof="0" dirty="0" err="1">
                <a:solidFill>
                  <a:srgbClr val="FFFFFF"/>
                </a:solidFill>
                <a:latin typeface="Calibri"/>
              </a:rPr>
              <a:t>CloudWatch</a:t>
            </a:r>
            <a:r>
              <a:rPr lang="es-CL" sz="1100" b="0" noProof="0" dirty="0">
                <a:solidFill>
                  <a:srgbClr val="FFFFFF"/>
                </a:solidFill>
                <a:latin typeface="Calibri"/>
              </a:rPr>
              <a:t>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45AB-FB19-D9F8-20F8-3E1046B2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A6D4B5-CA83-252A-8C18-61616DD4DEF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9F929D-7637-BF20-D198-5CF36F8FE9D6}"/>
              </a:ext>
            </a:extLst>
          </p:cNvPr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BEFF52-96B5-33B0-CC25-23CC636714E5}"/>
              </a:ext>
            </a:extLst>
          </p:cNvPr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13AE4E-F62F-0A86-93C6-7BDE5B884B67}"/>
              </a:ext>
            </a:extLst>
          </p:cNvPr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C697F-109A-6F54-6ABB-CD9F00A22962}"/>
              </a:ext>
            </a:extLst>
          </p:cNvPr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Demostración Funcional del Entorno Orquestado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3ED161-6D43-EFA2-C8BA-C8811519E4DE}"/>
              </a:ext>
            </a:extLst>
          </p:cNvPr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EF7382-FF93-8039-FB56-617382B72310}"/>
              </a:ext>
            </a:extLst>
          </p:cNvPr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031A1-C4DD-F8A2-7DF0-8675686F2089}"/>
              </a:ext>
            </a:extLst>
          </p:cNvPr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BC498-1B55-BA00-A795-703BF538A4B6}"/>
              </a:ext>
            </a:extLst>
          </p:cNvPr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F95B45-073D-9423-9E48-4FD9E56EBED5}"/>
              </a:ext>
            </a:extLst>
          </p:cNvPr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3" name="Imagen 12" descr="Interfaz de usuario gráfica, Texto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05CFAC48-33E6-7414-D941-862000E19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2" y="855979"/>
            <a:ext cx="3966392" cy="3206669"/>
          </a:xfrm>
          <a:prstGeom prst="rect">
            <a:avLst/>
          </a:prstGeom>
        </p:spPr>
      </p:pic>
      <p:pic>
        <p:nvPicPr>
          <p:cNvPr id="14" name="Imagen 13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A34396AA-A7D4-C1DC-9C99-5638E91A5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249" y="855980"/>
            <a:ext cx="4053205" cy="1438910"/>
          </a:xfrm>
          <a:prstGeom prst="rect">
            <a:avLst/>
          </a:prstGeom>
        </p:spPr>
      </p:pic>
      <p:pic>
        <p:nvPicPr>
          <p:cNvPr id="15" name="Imagen 14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7B4784AF-0EC2-8EFB-561D-8B8FC3EAE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49" y="2558115"/>
            <a:ext cx="4053205" cy="150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-635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Análisis Crítico del Proceso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76250" y="832104"/>
            <a:ext cx="7104888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lang="es-CL" sz="1600" b="1" noProof="0" dirty="0">
                <a:solidFill>
                  <a:srgbClr val="FFFFFF"/>
                </a:solidFill>
                <a:latin typeface="Calibri"/>
              </a:rPr>
              <a:t>Principales problemas encontrados: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allowPublicKeyRetrieval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=true necesario para conexión JDBC a MySQL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Normalización LF en scripts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shell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(.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gitattributes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Credenciales AWS rotadas periódicamente (sesión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Academy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Resolver DNS 8.8.8.8 para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nginx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en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Lecciones aprendidas: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simplifica operaciones vs. EC2 (sin gestión de servidores)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Autoscaling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preventivo (50%) evita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downtime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CI/CD con GitHub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Actions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acelera despliegues</a:t>
            </a:r>
          </a:p>
          <a:p>
            <a:pPr algn="l">
              <a:spcAft>
                <a:spcPts val="420"/>
              </a:spcAft>
            </a:pP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Proyección a entorno productivo para </a:t>
            </a:r>
            <a:r>
              <a:rPr lang="es-CL" sz="1400" b="1" noProof="0" dirty="0" err="1">
                <a:solidFill>
                  <a:srgbClr val="FFFFFF"/>
                </a:solidFill>
                <a:latin typeface="Calibri"/>
              </a:rPr>
              <a:t>Innovatech</a:t>
            </a: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 Chile: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Migrar a EKS para mayor flexibilidad de orquestación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Agregar base de datos administrada (RDS Aurora) en lugar de MySQL en ECS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Implementar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canary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deployments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y blue/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green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con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CodeDeploy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Agregar monitoreo con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CloudWatch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Dashboard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+ Alarmas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23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583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722376"/>
            <a:ext cx="9144000" cy="27432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400" b="1" noProof="0" dirty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910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ISY1101 - Introducción a Herramientas DevOps | </a:t>
            </a:r>
            <a:r>
              <a:rPr lang="es-CL" sz="900" b="0" noProof="0" dirty="0" err="1">
                <a:solidFill>
                  <a:srgbClr val="FFFFFF"/>
                </a:solidFill>
                <a:latin typeface="Calibri Light"/>
              </a:rPr>
              <a:t>Innovatech</a:t>
            </a:r>
            <a:r>
              <a:rPr lang="es-CL" sz="900" b="0" noProof="0" dirty="0">
                <a:solidFill>
                  <a:srgbClr val="FFFFFF"/>
                </a:solidFill>
                <a:latin typeface="Calibri Light"/>
              </a:rPr>
              <a:t>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10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0040" y="886968"/>
            <a:ext cx="27432" cy="3858768"/>
          </a:xfrm>
          <a:prstGeom prst="rect">
            <a:avLst/>
          </a:prstGeom>
          <a:solidFill>
            <a:srgbClr val="0D7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886968"/>
            <a:ext cx="81381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</a:pPr>
            <a:r>
              <a:rPr lang="es-CL" sz="1800" b="1" noProof="0" dirty="0">
                <a:solidFill>
                  <a:srgbClr val="FFFFFF"/>
                </a:solidFill>
                <a:latin typeface="Calibri"/>
              </a:rPr>
              <a:t>Logros alcanzados: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✅  Migración exitosa de EC2 (EP2) a ECS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+ ALB (EP3)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✅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Cluster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funcional con VPC,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SGs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roles IAM y 4 servicios operativos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✅  ALB con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path-based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routing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frontend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público +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APIs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respondiendo HTTP 200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✅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Autoscaling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Target Tracking CPU/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Memory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50% en 3 servicios (min1-max3)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✅  3 pipelines CI/CD en GitHub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Actions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build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→ ECR →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ECS automático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✅ 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Secrets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AWS en GitHub, logs en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CloudWatch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, trazabilidad con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commits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Arquitectura ECS </a:t>
            </a:r>
            <a:r>
              <a:rPr lang="es-CL" sz="1400" b="1" noProof="0" dirty="0" err="1">
                <a:solidFill>
                  <a:srgbClr val="FFFFFF"/>
                </a:solidFill>
                <a:latin typeface="Calibri"/>
              </a:rPr>
              <a:t>Fargate</a:t>
            </a:r>
            <a:r>
              <a:rPr lang="es-CL" sz="1400" b="1" noProof="0" dirty="0">
                <a:solidFill>
                  <a:srgbClr val="FFFFFF"/>
                </a:solidFill>
                <a:latin typeface="Calibri"/>
              </a:rPr>
              <a:t> demostró ser superior a EC2: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Sin gestión de servidores |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Auto-recuperación</a:t>
            </a: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 de tareas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Escalado horizontal automático | Balanceo integrado con ALB</a:t>
            </a:r>
          </a:p>
          <a:p>
            <a:pPr algn="l">
              <a:spcAft>
                <a:spcPts val="420"/>
              </a:spcAft>
            </a:pPr>
            <a:r>
              <a:rPr lang="es-CL" sz="1400" b="0" noProof="0" dirty="0">
                <a:solidFill>
                  <a:srgbClr val="FFFFFF"/>
                </a:solidFill>
                <a:latin typeface="Calibri"/>
              </a:rPr>
              <a:t>▸  Pipeline CI/CD completamente automatizado en rama </a:t>
            </a:r>
            <a:r>
              <a:rPr lang="es-CL" sz="1400" b="0" noProof="0" dirty="0" err="1">
                <a:solidFill>
                  <a:srgbClr val="FFFFFF"/>
                </a:solidFill>
                <a:latin typeface="Calibri"/>
              </a:rPr>
              <a:t>deploy</a:t>
            </a: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endParaRPr lang="es-CL" sz="1400" b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20"/>
              </a:spcAft>
            </a:pPr>
            <a:r>
              <a:rPr lang="es-CL" sz="1100" b="0" noProof="0" dirty="0">
                <a:solidFill>
                  <a:srgbClr val="FFFFFF"/>
                </a:solidFill>
                <a:latin typeface="Calibri"/>
              </a:rPr>
              <a:t>Repositorio: https://github.com/jsgiaverini/innovatech-devops-despacho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1096</Words>
  <Application>Microsoft Office PowerPoint</Application>
  <PresentationFormat>Presentación en pantalla (16:9)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</dc:creator>
  <cp:lastModifiedBy>Julio Igancio Soto Giaverini</cp:lastModifiedBy>
  <cp:revision>4</cp:revision>
  <dcterms:created xsi:type="dcterms:W3CDTF">2026-06-20T18:07:29Z</dcterms:created>
  <dcterms:modified xsi:type="dcterms:W3CDTF">2026-07-01T23:13:46Z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2026-06-19T00:00:00Z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2026-06-20T00:00:00Z</vt:filetime>
  </property>
  <property fmtid="{D5CDD505-2E9C-101B-9397-08002B2CF9AE}" pid="6" name="Producer">
    <vt:lpwstr>Microsoft® PowerPoint® para Microsoft 365</vt:lpwstr>
  </property>
</Properties>
</file>